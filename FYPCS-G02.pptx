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76" r:id="rId12"/>
    <p:sldId id="265" r:id="rId13"/>
    <p:sldId id="277" r:id="rId14"/>
    <p:sldId id="266" r:id="rId15"/>
    <p:sldId id="280" r:id="rId16"/>
    <p:sldId id="278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Bold" panose="02020803070505020304" pitchFamily="18" charset="0"/>
      <p:bold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imes New Roman MT" panose="020B0604020202020204" charset="0"/>
      <p:regular r:id="rId26"/>
    </p:embeddedFont>
    <p:embeddedFont>
      <p:font typeface="Canva Sans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0" y="441158"/>
            <a:ext cx="9372600" cy="2416342"/>
          </a:xfrm>
          <a:custGeom>
            <a:avLst/>
            <a:gdLst/>
            <a:ahLst/>
            <a:cxnLst/>
            <a:rect l="l" t="t" r="r" b="b"/>
            <a:pathLst>
              <a:path w="8684235" h="2362920">
                <a:moveTo>
                  <a:pt x="0" y="0"/>
                </a:moveTo>
                <a:lnTo>
                  <a:pt x="8684235" y="0"/>
                </a:lnTo>
                <a:lnTo>
                  <a:pt x="8684235" y="2362920"/>
                </a:lnTo>
                <a:lnTo>
                  <a:pt x="0" y="2362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2001" y="2443130"/>
            <a:ext cx="18037430" cy="1565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200000"/>
              </a:lnSpc>
            </a:pPr>
            <a:r>
              <a:rPr lang="en-US" sz="60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Based E-commerce Platform (StitchSmart)</a:t>
            </a:r>
            <a:endParaRPr lang="en-US" sz="5400" b="1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10000" y="4066983"/>
            <a:ext cx="13106400" cy="5283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</a:pPr>
            <a:r>
              <a:rPr lang="en-US" sz="2800" b="1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marL="0" lvl="0" indent="0" algn="ctr">
              <a:lnSpc>
                <a:spcPts val="2799"/>
              </a:lnSpc>
            </a:pPr>
            <a:endParaRPr lang="en-US" sz="2800" b="1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lvl="0" algn="ctr">
              <a:lnSpc>
                <a:spcPts val="2799"/>
              </a:lnSpc>
            </a:pPr>
            <a:r>
              <a:rPr lang="en-US" sz="2400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</a:t>
            </a:r>
          </a:p>
          <a:p>
            <a:pPr lvl="0" algn="ctr">
              <a:lnSpc>
                <a:spcPts val="2799"/>
              </a:lnSpc>
            </a:pPr>
            <a:endParaRPr lang="en-US" sz="2400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3079"/>
              </a:lnSpc>
            </a:pPr>
            <a:r>
              <a:rPr lang="en-US" sz="2400" b="1" spc="43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400" b="1" dirty="0" smtClean="0">
                <a:solidFill>
                  <a:srgbClr val="2C2C6A"/>
                </a:solidFill>
                <a:latin typeface="Times New Roman"/>
              </a:rPr>
              <a:t>SUPERVISOR</a:t>
            </a:r>
            <a:r>
              <a:rPr lang="en-US" sz="2400" b="1" dirty="0">
                <a:solidFill>
                  <a:srgbClr val="2C2C6A"/>
                </a:solidFill>
                <a:latin typeface="Times New Roman"/>
              </a:rPr>
              <a:t>: </a:t>
            </a:r>
            <a:r>
              <a:rPr lang="en-US" sz="2400" b="1" dirty="0" smtClean="0">
                <a:solidFill>
                  <a:srgbClr val="2C2C6A"/>
                </a:solidFill>
                <a:latin typeface="Times New Roman"/>
              </a:rPr>
              <a:t>SIR TANVEER AHMED</a:t>
            </a:r>
            <a:endParaRPr lang="en-US" sz="2400" b="1" dirty="0">
              <a:solidFill>
                <a:srgbClr val="2C2C6A"/>
              </a:solidFill>
              <a:latin typeface="Times New Roman"/>
            </a:endParaRPr>
          </a:p>
          <a:p>
            <a:pPr algn="ctr">
              <a:lnSpc>
                <a:spcPts val="3079"/>
              </a:lnSpc>
            </a:pPr>
            <a:endParaRPr lang="en-US" sz="2400" dirty="0" smtClean="0">
              <a:solidFill>
                <a:srgbClr val="2C2C6A"/>
              </a:solidFill>
              <a:latin typeface="Times New Roman"/>
            </a:endParaRPr>
          </a:p>
          <a:p>
            <a:pPr algn="ctr">
              <a:lnSpc>
                <a:spcPts val="3079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/>
              </a:rPr>
              <a:t>DEPARTMENT </a:t>
            </a:r>
            <a:r>
              <a:rPr lang="en-US" sz="2400" dirty="0">
                <a:solidFill>
                  <a:srgbClr val="2C2C6A"/>
                </a:solidFill>
                <a:latin typeface="Times New Roman"/>
              </a:rPr>
              <a:t>OF COMPUTER SCIENCE | UNIVERSITY OF CENTRAL PUNJAB (UCP)</a:t>
            </a:r>
          </a:p>
          <a:p>
            <a:pPr marL="0" lvl="0" indent="0" algn="ctr">
              <a:lnSpc>
                <a:spcPts val="3079"/>
              </a:lnSpc>
            </a:pPr>
            <a:endParaRPr lang="en-US" sz="2400" b="1" spc="43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2799"/>
              </a:lnSpc>
            </a:pPr>
            <a:r>
              <a:rPr lang="en-US" sz="1999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</a:p>
          <a:p>
            <a:pPr marL="0" lvl="0" indent="0" algn="ctr"/>
            <a:r>
              <a:rPr lang="en-US" sz="1999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endParaRPr lang="en-US" sz="1999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97682" y="8267796"/>
            <a:ext cx="7566068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</a:pPr>
            <a:endParaRPr lang="en-US" sz="2088" b="1" spc="146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ctr">
              <a:lnSpc>
                <a:spcPts val="2923"/>
              </a:lnSpc>
            </a:pPr>
            <a:r>
              <a:rPr lang="en-US" sz="2400" spc="146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FYP </a:t>
            </a:r>
            <a:r>
              <a:rPr lang="en-US" sz="2400" spc="146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Internal Evaluation Presentation </a:t>
            </a:r>
          </a:p>
          <a:p>
            <a:pPr marL="0" lvl="0" indent="0" algn="ctr">
              <a:lnSpc>
                <a:spcPts val="2923"/>
              </a:lnSpc>
            </a:pPr>
            <a:r>
              <a:rPr lang="en-US" sz="2400" spc="146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Academic </a:t>
            </a:r>
            <a:r>
              <a:rPr lang="en-US" sz="2400" spc="146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 Spring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7266" y="9559925"/>
            <a:ext cx="7566068" cy="32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 JULY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8800" y="9210675"/>
            <a:ext cx="13625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83245"/>
              </p:ext>
            </p:extLst>
          </p:nvPr>
        </p:nvGraphicFramePr>
        <p:xfrm>
          <a:off x="4191000" y="4457700"/>
          <a:ext cx="12192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  <a:gridCol w="6096000"/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Group Member Name</a:t>
                      </a:r>
                      <a:endParaRPr lang="en-US" sz="2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Registration No</a:t>
                      </a:r>
                      <a:endParaRPr lang="en-US" sz="2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000" b="1" dirty="0" smtClean="0">
                          <a:solidFill>
                            <a:srgbClr val="2C2C6A"/>
                          </a:solidFill>
                          <a:latin typeface="Times New Roman"/>
                        </a:rPr>
                        <a:t>MOIZ AHMED</a:t>
                      </a:r>
                      <a:endParaRPr sz="2000" b="1" dirty="0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smtClean="0">
                          <a:solidFill>
                            <a:srgbClr val="2C2C6A"/>
                          </a:solidFill>
                          <a:latin typeface="Times New Roman"/>
                        </a:rPr>
                        <a:t>S3F22UBSCS008</a:t>
                      </a:r>
                      <a:endParaRPr sz="2000" b="1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000" b="1" dirty="0" smtClean="0">
                          <a:solidFill>
                            <a:srgbClr val="2C2C6A"/>
                          </a:solidFill>
                          <a:latin typeface="Times New Roman"/>
                        </a:rPr>
                        <a:t>BISSMA IJAZ</a:t>
                      </a:r>
                      <a:endParaRPr sz="2000" b="1" dirty="0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smtClean="0">
                          <a:solidFill>
                            <a:srgbClr val="2C2C6A"/>
                          </a:solidFill>
                          <a:latin typeface="Times New Roman"/>
                        </a:rPr>
                        <a:t>S3F22UBSCS025</a:t>
                      </a:r>
                      <a:endParaRPr sz="2000" b="1" dirty="0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000" b="1" smtClean="0">
                          <a:solidFill>
                            <a:srgbClr val="2C2C6A"/>
                          </a:solidFill>
                          <a:latin typeface="Times New Roman"/>
                        </a:rPr>
                        <a:t>ALI HAIDER</a:t>
                      </a:r>
                      <a:endParaRPr sz="2000" b="1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smtClean="0">
                          <a:solidFill>
                            <a:srgbClr val="2C2C6A"/>
                          </a:solidFill>
                          <a:latin typeface="Times New Roman"/>
                        </a:rPr>
                        <a:t>S3F22UBSCS091</a:t>
                      </a:r>
                      <a:endParaRPr sz="2000" b="1" dirty="0">
                        <a:solidFill>
                          <a:srgbClr val="2C2C6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74028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10698"/>
            <a:ext cx="7672225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2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3884854"/>
            <a:ext cx="7191133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clothing stores today are very basic. Customers cannot compare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clothes,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difficult return processes, cannot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clothes,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rarely get instant customer support.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solves all these problems by creating an all-in-one AI-Assisted E-Commerce Store.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71048" y="2706625"/>
            <a:ext cx="6266052" cy="1931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Domain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clothing websites lack custom design tools,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comparison, automated return management, and 24/7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assistance.</a:t>
            </a: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167419" y="6805325"/>
            <a:ext cx="6266052" cy="1646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web store built with PHP &amp; MySQL combined with Python.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endParaRPr lang="en-US" sz="2400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62958" y="5132647"/>
            <a:ext cx="6348742" cy="1931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&amp; Industry </a:t>
            </a:r>
            <a:r>
              <a:rPr lang="en-US" sz="28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real-world shopping problems by combining modern AI features with local Pakistani retail needs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35587" y="5191921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514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3035" y="1104421"/>
            <a:ext cx="9886439" cy="1526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92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2994" y="2797276"/>
            <a:ext cx="7191133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online clothing stores today still rely on simple, outdated websites that do not meet the smart needs of modern shoppers.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features like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side-by-side Product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Comparison, a clear Return &amp; Refund System, custom Design Studio, or a 24/7 AI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>
              <a:lnSpc>
                <a:spcPct val="150000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643587"/>
            <a:ext cx="5300480" cy="15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cannot easily compare fabric quality, pricing, colors, and sizing of two clothes side-by-side on typical websites.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23171" y="6619461"/>
            <a:ext cx="5300480" cy="104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clothes is a confusing, manual process without automated tracking.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01400" y="4500459"/>
            <a:ext cx="530048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Admins waste hours manually writing product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to track low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71853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14" y="8343900"/>
            <a:ext cx="5776686" cy="19431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68200" y="0"/>
            <a:ext cx="6019800" cy="2074375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10047" y="1130945"/>
            <a:ext cx="7672225" cy="144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50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4561" y="5826167"/>
            <a:ext cx="7191133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29659" y="2424991"/>
            <a:ext cx="592964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and secure e-commerce website using PHP &amp; MySQL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Python &amp; Google AI for smart online features.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62959" y="6929091"/>
            <a:ext cx="6364184" cy="10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real users and verify that everything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runs fast without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errors.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715996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30802" y="4657972"/>
            <a:ext cx="6196341" cy="1595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time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to automatically write product descriptions, track low stock, and answer customer questions 24/7.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901775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54809"/>
              </p:ext>
            </p:extLst>
          </p:nvPr>
        </p:nvGraphicFramePr>
        <p:xfrm>
          <a:off x="1219200" y="2956840"/>
          <a:ext cx="8229600" cy="573865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62144"/>
                <a:gridCol w="4967456"/>
              </a:tblGrid>
              <a:tr h="5531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Objective</a:t>
                      </a:r>
                    </a:p>
                  </a:txBody>
                  <a:tcPr marL="65594" marR="65594" marT="32797" marB="327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Our System Does</a:t>
                      </a:r>
                    </a:p>
                  </a:txBody>
                  <a:tcPr marL="65594" marR="65594" marT="32797" marB="327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123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Store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 fast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clothing store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823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interactive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9880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an AI-powered chatbot that answers customer questions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9880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Automation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to automatically generate product descriptions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10930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Bug-Free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ensure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9" y="8343899"/>
            <a:ext cx="6701971" cy="1921101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C2C6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1734800" y="-868"/>
            <a:ext cx="6553200" cy="2282883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4508" y="812033"/>
            <a:ext cx="5404086" cy="80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54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4537" y="4777836"/>
            <a:ext cx="5404086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06994" y="858849"/>
            <a:ext cx="646381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54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&amp; 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4086" y="4777836"/>
            <a:ext cx="5404086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D9D9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rot="-10800000" flipH="1" flipV="1">
            <a:off x="16461070" y="847281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604133" y="103705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134" y="2738802"/>
            <a:ext cx="80511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Dependent on costly third-party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AI chatbot.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WooCommerce: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live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customization.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Overwhelming B2B drop-shipping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CustomInk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payments and AI automation.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9684029" y="2576908"/>
            <a:ext cx="757527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Interactive Customization Tools: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nline stores display static product images (Ahmed &amp; Tariq, 2022).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Real-Time RAG AI Assistants: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E-commerce chatbots are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predefined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(Khan &amp; Raza, 2023).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Manual Workload for Administrators: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platforms require administrators to manually create product descriptions (Fatima et al., 2021).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an Integrated AI-Powered Local E-Commerce Platform: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solutions do not combine interactive apparel customization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customer support (Hussain &amp; Ali, 2023).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193684"/>
            <a:ext cx="4800600" cy="1106015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468700" y="0"/>
            <a:ext cx="5818254" cy="2232569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8807" y="532373"/>
            <a:ext cx="9962639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291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4561" y="5826167"/>
            <a:ext cx="7191133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</a:pPr>
            <a:r>
              <a:rPr lang="en-US" sz="1598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8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551932"/>
            <a:ext cx="60579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Times New Roman"/>
              </a:rPr>
              <a:t>Proposed System: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StitchSmart is an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online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store where customers can design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clothes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o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wners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can manage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01400" y="7207590"/>
            <a:ext cx="619634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Innovation:</a:t>
            </a: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incorporate   customization, comparison, product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descriptions, automated low-stock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 portal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720759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334751" y="4270421"/>
            <a:ext cx="5791198" cy="268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Key Features: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nteractive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24/7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utomatic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description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JazzCash payments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utomated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email alerts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endParaRPr lang="en-US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45477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752601" y="1943100"/>
            <a:ext cx="7848600" cy="7924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94571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01173"/>
            <a:ext cx="7672225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6400" y="3975936"/>
            <a:ext cx="7686739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built StitchSmart step-by-step using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technologies. We first created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pages, then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added admin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tools, and tested every feature carefully to make sure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errors.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654523"/>
            <a:ext cx="5300480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Development Methodology</a:t>
            </a: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step-by-step approach was followed to design, build, and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small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stages.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26032" y="7396895"/>
            <a:ext cx="5300480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AI/ML Frameworks: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AI, LangChain, Sentence Transformers, FAISS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613406" y="735342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26032" y="4199210"/>
            <a:ext cx="610946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Technologies &amp; </a:t>
            </a: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HTML5,CSS3 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 Bootstrap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 PHP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Integrations: PHPMailer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JazzCash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3" y="426450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42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4600" y="154555"/>
            <a:ext cx="11326218" cy="128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3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9798" y="9451867"/>
            <a:ext cx="5870759" cy="22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19800" y="1688327"/>
            <a:ext cx="5870759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600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761" y="2052784"/>
            <a:ext cx="11049000" cy="714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01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724900"/>
            <a:ext cx="4648200" cy="156199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182600" y="0"/>
            <a:ext cx="5105400" cy="22479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05200" y="-82669"/>
            <a:ext cx="11326218" cy="128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3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9798" y="9451867"/>
            <a:ext cx="5870759" cy="22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87841" y="1309887"/>
            <a:ext cx="5870759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</a:p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03156" y="9697754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0" y="9674877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35" y="1584977"/>
            <a:ext cx="12115800" cy="81127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039100"/>
            <a:ext cx="5715000" cy="22479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649200" y="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52800" y="0"/>
            <a:ext cx="11326218" cy="122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6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47657" y="1474784"/>
            <a:ext cx="587075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</a:p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52418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3804" y="9597867"/>
            <a:ext cx="3157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51389" y="9597867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974921"/>
            <a:ext cx="10210800" cy="762294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725400" y="-36191"/>
            <a:ext cx="5562600" cy="2360291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98669" y="73758"/>
            <a:ext cx="11326218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6"/>
              </a:lnSpc>
            </a:pPr>
            <a:r>
              <a:rPr lang="en-US" sz="10166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</a:t>
            </a: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</a:t>
            </a:r>
            <a:r>
              <a:rPr lang="en-US" sz="10166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6013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26399" y="1637153"/>
            <a:ext cx="587075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</a:p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199245" y="9210675"/>
            <a:ext cx="2725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2098818"/>
            <a:ext cx="15697200" cy="648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1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57" y="8572500"/>
            <a:ext cx="4107543" cy="17145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68200" y="0"/>
            <a:ext cx="6019800" cy="25527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38400" y="-11277"/>
            <a:ext cx="11326218" cy="118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80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34906" y="1244846"/>
            <a:ext cx="587075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</a:p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52418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48651" y="9738022"/>
            <a:ext cx="277319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25400" y="9738022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1638300"/>
            <a:ext cx="14141977" cy="809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9" y="8724900"/>
            <a:ext cx="4492171" cy="15621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468700" y="0"/>
            <a:ext cx="5819300" cy="20193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4600" y="-165746"/>
            <a:ext cx="11326218" cy="118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80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0" y="1151477"/>
            <a:ext cx="587075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</a:t>
            </a: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366219" y="9791700"/>
            <a:ext cx="285335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51389" y="9791700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409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434790" y="-2413811"/>
            <a:ext cx="8142320" cy="158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82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1283" y="7935725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1564083" y="-355349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2600" y="2095500"/>
            <a:ext cx="8474330" cy="224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2"/>
              </a:lnSpc>
            </a:pPr>
            <a:r>
              <a:rPr lang="en-US" sz="8492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4850750"/>
            <a:ext cx="8057639" cy="2677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presents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status of our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system.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proud to report that 100%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planned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 has been successfully completed.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79650" y="2095500"/>
            <a:ext cx="5300480" cy="240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Completed Modules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User 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Registration Module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Schema Design &amp;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Core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Backend API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Development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Admin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Dashboard UI implemented successfully.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0793320" y="2351276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82030" y="6924618"/>
            <a:ext cx="5300480" cy="217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Milestones </a:t>
            </a:r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Achieved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approved, Live Customization UI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RAG Chatbot deployed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793319" y="6924618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79650" y="4753383"/>
            <a:ext cx="5300480" cy="191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Current Development Status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roject modules have fully developed. Unit testing for Chatbot workflows have been successfully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completed.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793319" y="475338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89626" y="9210675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 flipV="1">
            <a:off x="8008090" y="783815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77609" y="1239833"/>
            <a:ext cx="8190363" cy="228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45"/>
              </a:lnSpc>
            </a:pPr>
            <a:r>
              <a:rPr lang="en-US" sz="8250" b="1" spc="6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77609" y="4378016"/>
            <a:ext cx="9434091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screenshots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illustrate core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developed, including our Interactive Custom Hoodie Design Canvas, intelligent 24/7 AI RAG Chatbot, and the Admin Inventory Control Dashboard.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57498" y="7838157"/>
            <a:ext cx="934950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Figure 1: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Interactive Custom Hoodie Design Canvas illustrating live product customization, color selection, and real-time visual rendering.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99556" y="7838157"/>
            <a:ext cx="3598896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  <a:spcBef>
                <a:spcPct val="0"/>
              </a:spcBef>
            </a:pPr>
            <a:r>
              <a:rPr lang="en-US" sz="1598" b="1" dirty="0" smtClean="0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endParaRPr lang="en-US" sz="1598" b="1" dirty="0">
              <a:solidFill>
                <a:srgbClr val="D9D9D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47700"/>
            <a:ext cx="70104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220127" y="9579013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15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215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 flipV="1">
            <a:off x="8001000" y="7335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48600" y="647700"/>
            <a:ext cx="8190363" cy="228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45"/>
              </a:lnSpc>
            </a:pPr>
            <a:r>
              <a:rPr lang="en-US" sz="8250" b="1" spc="6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8600" y="3549608"/>
            <a:ext cx="9281691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screenshots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illustrate core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developed, including our Interactive Custom Hoodie Design Canvas, intelligent 24/7 AI RAG Chatbot, and the Admin Inventory Control Dashboard.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2046" y="7838157"/>
            <a:ext cx="359889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238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68695" y="7335472"/>
            <a:ext cx="9583615" cy="10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24/7 AI RAG Chatbot 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assisting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with instant sizing recommendations and tailoring queries.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7700"/>
            <a:ext cx="6553200" cy="8915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77490" y="9434286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81938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-34873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89191" y="2138679"/>
            <a:ext cx="7672225" cy="1471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00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9217" y="4000500"/>
            <a:ext cx="7191133" cy="315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section outlines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testing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strategies used to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verify performance of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StitchSmart. Rigorous multi-level testing was performed to ensure that the custom e-commerce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workflows and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automated email alerts operate seamlessly for all users.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62959" y="2643587"/>
            <a:ext cx="530048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was performed on individual core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validated specific system features against project requirements.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01400" y="6793472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Findings &amp; Stability: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passed successfully. Minor data-sync bugs identified during PHP-MySQL integration testing were resolved.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66588" y="4904364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Test Cases: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tested with credentials. API payload tested for limits. End-to-end checkout data flow tested from cart to admin database 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930548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04053" y="9210675"/>
            <a:ext cx="262893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1245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C2C6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81200" y="1352444"/>
            <a:ext cx="5404086" cy="1770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669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Faced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9235" y="3619500"/>
            <a:ext cx="7022765" cy="397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hatbot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gave irrelevant and out-of-context responses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 Performance: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Real-time hoodie customization with color, text, and logo updates caused slow rendering on low-end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 that efficiently links users,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orders,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inventory was complex.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Delivery Issues: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Automated order confirmation emails were not being sent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ts val="2238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58400" y="1352986"/>
            <a:ext cx="6463811" cy="92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669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Solutions Applied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8045" y="3417329"/>
            <a:ext cx="6458537" cy="4344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Accuracy: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Implemented RAG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custom store knowledge base to restrict and improve chatbot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Canvas Performance: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Optimized HTML5 Canvas API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smooth preview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Created a normalized MySQL schema with proper foreign key relationships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manage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Delivery Issues: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Configured PHPMailer with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SMTP credentials for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email automation.</a:t>
            </a:r>
          </a:p>
          <a:p>
            <a:pPr marL="0" lvl="0" indent="0" algn="just">
              <a:lnSpc>
                <a:spcPts val="2238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rot="-10800000" flipH="1" flipV="1">
            <a:off x="16786582" y="847281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359235" y="135244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15704" y="9616735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0972801" y="6793472"/>
            <a:ext cx="5598299" cy="1474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972800" y="4610100"/>
            <a:ext cx="5598300" cy="16545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972800" y="2643587"/>
            <a:ext cx="5598300" cy="1544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48798"/>
            <a:ext cx="7672225" cy="148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91"/>
              </a:lnSpc>
            </a:pPr>
            <a:r>
              <a:rPr lang="en-US" sz="96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  <a:endParaRPr lang="en-US" sz="9600" b="1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10047" y="4125087"/>
            <a:ext cx="7191133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outlines planned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and future enhancements for StitchSmart. The following goals will guide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platform's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beyond the Final Year Project scope.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710785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Tasks: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live payment gateway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current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checkout,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expand Chatbot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query coverage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435885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52073" y="6812933"/>
            <a:ext cx="543892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 into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designers, introduce personalize style recommendations,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explore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Pakistan.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435883" y="700914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01400" y="4691316"/>
            <a:ext cx="53697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Roadmap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include replacing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dummy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JazzCash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gateway. Mid-term goals focus on building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Android. 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435884" y="4691316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84817" y="9210675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5434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-39224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29748"/>
            <a:ext cx="7672225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50"/>
              </a:lnSpc>
            </a:pPr>
            <a:r>
              <a:rPr lang="en-US" sz="11250" b="1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9217" y="4198678"/>
            <a:ext cx="7191133" cy="270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addressed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Pakistan's custom clothing market by delivering a fully functional e-commerce platform with AI-powered assistance, interactive product customization, and seamless order management.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70216" y="2640260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complete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browsing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order placement and real-time admin management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106502" y="6793472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potential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real-world impact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Pakistan's fashion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market. Future enhancements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 value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81102" y="4718530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tested, and successfully deployed. Implementation stands at a completed state across all core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71853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4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</a:t>
            </a:r>
            <a:r>
              <a:rPr lang="en-US" sz="208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20</a:t>
            </a:r>
            <a:endParaRPr lang="en-US" sz="208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5855" y="2743970"/>
            <a:ext cx="15216291" cy="373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83"/>
              </a:lnSpc>
            </a:pPr>
            <a:r>
              <a:rPr lang="en-US" sz="2127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3256" y="6279243"/>
            <a:ext cx="14521489" cy="4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2498" spc="499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WELCOME YOUR QUESTIONS AND FEEDBACK.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1200" y="9410700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1331</Words>
  <Application>Microsoft Office PowerPoint</Application>
  <PresentationFormat>Custom</PresentationFormat>
  <Paragraphs>202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Times New Roman Bold</vt:lpstr>
      <vt:lpstr>Arial</vt:lpstr>
      <vt:lpstr>Tahoma</vt:lpstr>
      <vt:lpstr>Times New Roman MT</vt:lpstr>
      <vt:lpstr>Canva Sans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Presentation (Outline)</dc:title>
  <cp:lastModifiedBy>USER</cp:lastModifiedBy>
  <cp:revision>43</cp:revision>
  <dcterms:created xsi:type="dcterms:W3CDTF">2006-08-16T00:00:00Z</dcterms:created>
  <dcterms:modified xsi:type="dcterms:W3CDTF">2026-07-13T15:12:15Z</dcterms:modified>
  <dc:identifier>DAHO-V1CWnI</dc:identifier>
</cp:coreProperties>
</file>